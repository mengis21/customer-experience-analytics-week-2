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Raleway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BEA5A-AC3B-4FC5-8CAE-F7721D8CCF50}">
  <a:tblStyle styleId="{F18BEA5A-AC3B-4FC5-8CAE-F7721D8CCF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d0fcc51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d0fcc51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8f76547f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8f76547f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8f76547f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8f76547f0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8f76547f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8f76547f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8f76547f0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8f76547f0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15b090d7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15b090d7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8f76547f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8f76547f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B7B8BE30-5440-31BF-5A2E-F83E666D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8f76547f0_0_92:notes">
            <a:extLst>
              <a:ext uri="{FF2B5EF4-FFF2-40B4-BE49-F238E27FC236}">
                <a16:creationId xmlns:a16="http://schemas.microsoft.com/office/drawing/2014/main" id="{A4B24A62-CF9C-4D5C-1B52-736A1DD27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8f76547f0_0_92:notes">
            <a:extLst>
              <a:ext uri="{FF2B5EF4-FFF2-40B4-BE49-F238E27FC236}">
                <a16:creationId xmlns:a16="http://schemas.microsoft.com/office/drawing/2014/main" id="{911D032E-1D5A-2D43-75AF-A32B2D6F2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55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8f76547f0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8f76547f0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8f76547f0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8f76547f0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8f76547f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8f76547f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15b090d7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15b090d7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c7706a11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c7706a11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blog/sentiment-analysis-pyth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www.geeksforgeeks.org/what-is-sentiment-analysi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60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Sentiment Analysis and Keyword Extraction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What is Sentiment Analysis?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Sentiment analysis uses natural language processing (NLP) to determine the emotional tone in text, classifying it as positive, negative, or neutral.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Importance for App Reviews: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Gauges customer satisfaction and user experience.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Identifies areas for app improvement.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Supports competitive analysis by comparing user sentiments.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Applications: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Prioritizing feature updates based on user feedback.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Measuring brand perception.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Enhancing customer support strategies.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What is Keyword Extraction?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Keyword extraction identifies significant words or phrases that represent key themes or topics in text.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Importance for App Reviews: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Highlights common praises (e.g., "user-friendly") or complaints (e.g., "bugs").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Reveals frequently mentioned features or issues.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Applications: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Guiding app development by focusing on user-mentioned features.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Informing marketing strategies with user-preferred terms.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Identifying trends for product improvement.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>
                <a:latin typeface="Raleway"/>
                <a:ea typeface="Raleway"/>
                <a:cs typeface="Raleway"/>
                <a:sym typeface="Raleway"/>
              </a:rPr>
              <a:t>Sentiment Analysis Methods: A Comparative Overview</a:t>
            </a:r>
            <a:endParaRPr sz="232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Lexicon-Based: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Uses predefined word lists with positive/negative sentiment scores.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Very fast and requires no training data.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Simple but struggles with context, negation, and sarcasm.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Good for quick sentiment checks and social media monitoring.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Machine Learning-Based: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Trains models (e.g., Naive Bayes, SVM) using labeled examples.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Learns patterns from context and adapts to different domains.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Needs labeled datasets and may overfit if not handled carefully.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Effective for deeper customer feedback analysis and detailed classification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Cont.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Deep Learning-Based: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Uses neural networks like LSTM and BERT for deep context understanding.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Achieves high accuracy and handles complex language patterns.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Requires large datasets and strong computational power.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‘Ideal for advanced tasks like aspect-based sentiment and nuanced text analysis.</a:t>
            </a:r>
          </a:p>
          <a:p>
            <a:pPr marL="114300" lvl="0" indent="0" algn="l" rtl="0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Rule-Based: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Uses hand-crafted rules or patterns to classify sentiment.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Transparent, easy to customize, and requires no training data.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Hard to scale and may fail on unexpected language.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Good for narrow use cases or quick early-stage prototypes.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Cont.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8"/>
          <p:cNvGraphicFramePr/>
          <p:nvPr/>
        </p:nvGraphicFramePr>
        <p:xfrm>
          <a:off x="403638" y="782625"/>
          <a:ext cx="8032125" cy="4185825"/>
        </p:xfrm>
        <a:graphic>
          <a:graphicData uri="http://schemas.openxmlformats.org/drawingml/2006/table">
            <a:tbl>
              <a:tblPr>
                <a:noFill/>
                <a:tableStyleId>{F18BEA5A-AC3B-4FC5-8CAE-F7721D8CCF50}</a:tableStyleId>
              </a:tblPr>
              <a:tblGrid>
                <a:gridCol w="267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Method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Pros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Cons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Lexicon-Based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Easy, fast, no training data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Misses context, poor negation handling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dirty="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Machine Learning</a:t>
                      </a:r>
                      <a:endParaRPr dirty="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Handles context, accurate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Needs labeled data, overfitting risk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Deep Learning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State-of-the-art, captures nuances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Large data, high computational cost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Rule-Based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Transparent, no training data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dirty="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Hard to scale, may miss cases</a:t>
                      </a:r>
                      <a:endParaRPr dirty="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>
                <a:latin typeface="Raleway"/>
                <a:ea typeface="Raleway"/>
                <a:cs typeface="Raleway"/>
                <a:sym typeface="Raleway"/>
              </a:rPr>
              <a:t>Table comparing VADER and TextBlob's approaches</a:t>
            </a:r>
            <a:endParaRPr sz="242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9"/>
          <p:cNvGraphicFramePr/>
          <p:nvPr/>
        </p:nvGraphicFramePr>
        <p:xfrm>
          <a:off x="800200" y="726950"/>
          <a:ext cx="7427925" cy="4062925"/>
        </p:xfrm>
        <a:graphic>
          <a:graphicData uri="http://schemas.openxmlformats.org/drawingml/2006/table">
            <a:tbl>
              <a:tblPr>
                <a:noFill/>
                <a:tableStyleId>{F18BEA5A-AC3B-4FC5-8CAE-F7721D8CCF50}</a:tableStyleId>
              </a:tblPr>
              <a:tblGrid>
                <a:gridCol w="247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Aspect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VADER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TextBlob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Score Range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Compound score: -1 to +1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Polarity score: -1 to +1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Thresholds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Positive ≥ 0.05, Negative ≤ -0.05, Neutral in between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 fixed thresholds, user interpretation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Design Focus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Social media, informal text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General-purpose, formal and informal text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Sensitivity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High, captures nuanced sentiments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Lower, may miss subtle sentiments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Empirical Basis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Based on social media datasets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Based on pattern library, less domain-specific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Use Case Example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Classifying X posts, app reviews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Analyzing</a:t>
                      </a:r>
                      <a:r>
                        <a:rPr lang="en-GB" dirty="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news articles, essays</a:t>
                      </a:r>
                      <a:endParaRPr dirty="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Sentiment Analysis Techniques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Lexicon-based Methods: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b="1" dirty="0" err="1">
                <a:latin typeface="Raleway"/>
                <a:ea typeface="Raleway"/>
                <a:cs typeface="Raleway"/>
                <a:sym typeface="Raleway"/>
              </a:rPr>
              <a:t>TextBlob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Simple library for quick sentiment classification.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VADER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Optimized for social media and reviews, handles emojis and slang.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Machine Learning Methods: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Naive Bayes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Probabilistic classifier for text data.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SVM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Effective for high-dimensional text features.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Deep Learning Methods: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LSTM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Captures sequential context in reviews.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Transformers (e.g., BERT)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Advanced models for nuanced sentiment understanding.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6B7756B-5FE9-022C-21F1-FCBFEAB0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>
            <a:extLst>
              <a:ext uri="{FF2B5EF4-FFF2-40B4-BE49-F238E27FC236}">
                <a16:creationId xmlns:a16="http://schemas.microsoft.com/office/drawing/2014/main" id="{14EDFF2E-0654-2800-DC80-76EE5A2292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>
                <a:latin typeface="Raleway"/>
                <a:ea typeface="Raleway"/>
                <a:cs typeface="Raleway"/>
                <a:sym typeface="Raleway"/>
              </a:rPr>
              <a:t>Keyword Extraction Methods: A Comparative Overview</a:t>
            </a:r>
            <a:endParaRPr sz="232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" name="Google Shape;110;p21">
            <a:extLst>
              <a:ext uri="{FF2B5EF4-FFF2-40B4-BE49-F238E27FC236}">
                <a16:creationId xmlns:a16="http://schemas.microsoft.com/office/drawing/2014/main" id="{283333FC-0540-2107-39AA-CA50998AE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Frequency-Based: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Counts how often each word appears after removing </a:t>
            </a:r>
            <a:r>
              <a:rPr lang="en-US" dirty="0" err="1">
                <a:latin typeface="Raleway"/>
                <a:ea typeface="Raleway"/>
                <a:cs typeface="Raleway"/>
                <a:sym typeface="Raleway"/>
              </a:rPr>
              <a:t>stopwords</a:t>
            </a: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Fast, simple, and good for quick text overviews.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Shows common themes but lacks context and meaning.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May highlight frequent but unimportant words.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TF-IDF: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spcBef>
                <a:spcPts val="1200"/>
              </a:spcBef>
              <a:buFont typeface="Raleway"/>
              <a:buChar char="●"/>
            </a:pPr>
            <a:r>
              <a:rPr lang="en-US" dirty="0">
                <a:latin typeface="Raleway"/>
                <a:sym typeface="Raleway"/>
              </a:rPr>
              <a:t>Measures how important a word is across the dataset.</a:t>
            </a:r>
          </a:p>
          <a:p>
            <a:pPr>
              <a:spcBef>
                <a:spcPts val="1200"/>
              </a:spcBef>
              <a:buFont typeface="Raleway"/>
              <a:buChar char="●"/>
            </a:pPr>
            <a:r>
              <a:rPr lang="en-US" dirty="0">
                <a:latin typeface="Raleway"/>
                <a:sym typeface="Raleway"/>
              </a:rPr>
              <a:t>Highlights distinctive terms, not just frequent ones.</a:t>
            </a:r>
          </a:p>
          <a:p>
            <a:pPr>
              <a:spcBef>
                <a:spcPts val="1200"/>
              </a:spcBef>
              <a:buFont typeface="Raleway"/>
              <a:buChar char="●"/>
            </a:pPr>
            <a:r>
              <a:rPr lang="en-US" dirty="0">
                <a:latin typeface="Raleway"/>
                <a:sym typeface="Raleway"/>
              </a:rPr>
              <a:t>Useful for keyword extraction and topic insights.</a:t>
            </a:r>
          </a:p>
          <a:p>
            <a:pPr>
              <a:spcBef>
                <a:spcPts val="1200"/>
              </a:spcBef>
              <a:buFont typeface="Raleway"/>
              <a:buChar char="●"/>
            </a:pPr>
            <a:r>
              <a:rPr lang="en-US" dirty="0">
                <a:latin typeface="Raleway"/>
                <a:sym typeface="Raleway"/>
              </a:rPr>
              <a:t>Still statistical—does not fully capture word meaning.</a:t>
            </a:r>
            <a:endParaRPr dirty="0">
              <a:latin typeface="Raleway"/>
              <a:sym typeface="Raleway"/>
            </a:endParaRPr>
          </a:p>
        </p:txBody>
      </p:sp>
      <p:pic>
        <p:nvPicPr>
          <p:cNvPr id="111" name="Google Shape;111;p21">
            <a:extLst>
              <a:ext uri="{FF2B5EF4-FFF2-40B4-BE49-F238E27FC236}">
                <a16:creationId xmlns:a16="http://schemas.microsoft.com/office/drawing/2014/main" id="{DAB92ECF-1463-1C7E-3178-5A1ABB9D37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241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Cont.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Topic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Modeling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 (LDA):</a:t>
            </a:r>
            <a:endParaRPr sz="1600"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sz="1600" dirty="0">
                <a:latin typeface="Raleway"/>
                <a:ea typeface="Raleway"/>
                <a:cs typeface="Raleway"/>
                <a:sym typeface="Raleway"/>
              </a:rPr>
              <a:t>Groups related words into topics based on how they appear together.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sz="1600" dirty="0">
                <a:latin typeface="Raleway"/>
                <a:ea typeface="Raleway"/>
                <a:cs typeface="Raleway"/>
                <a:sym typeface="Raleway"/>
              </a:rPr>
              <a:t>Helps uncover hidden themes in large sets of text data.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sz="1600" dirty="0">
                <a:latin typeface="Raleway"/>
                <a:ea typeface="Raleway"/>
                <a:cs typeface="Raleway"/>
                <a:sym typeface="Raleway"/>
              </a:rPr>
              <a:t>Requires choosing the number of topics and interpreting results manually.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sz="1600" dirty="0">
                <a:latin typeface="Raleway"/>
                <a:ea typeface="Raleway"/>
                <a:cs typeface="Raleway"/>
                <a:sym typeface="Raleway"/>
              </a:rPr>
              <a:t>Useful for theme discovery and content categorization</a:t>
            </a:r>
            <a:endParaRPr sz="1600"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Part-of-Speech Tagging (for Nouns):</a:t>
            </a:r>
            <a:endParaRPr sz="1600"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sz="1600" dirty="0">
                <a:latin typeface="Raleway"/>
                <a:ea typeface="Raleway"/>
                <a:cs typeface="Raleway"/>
                <a:sym typeface="Raleway"/>
              </a:rPr>
              <a:t>Identifies nouns in text to highlight key concepts or items.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sz="1600" dirty="0">
                <a:latin typeface="Raleway"/>
                <a:ea typeface="Raleway"/>
                <a:cs typeface="Raleway"/>
                <a:sym typeface="Raleway"/>
              </a:rPr>
              <a:t>Simple method to find important keywords in reviews.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sz="1600" dirty="0">
                <a:latin typeface="Raleway"/>
                <a:ea typeface="Raleway"/>
                <a:cs typeface="Raleway"/>
                <a:sym typeface="Raleway"/>
              </a:rPr>
              <a:t>May capture irrelevant nouns without domain understanding.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US" sz="1600" dirty="0">
                <a:latin typeface="Raleway"/>
                <a:ea typeface="Raleway"/>
                <a:cs typeface="Raleway"/>
                <a:sym typeface="Raleway"/>
              </a:rPr>
              <a:t>Useful for spotting features, issues, or entities users mention.</a:t>
            </a:r>
            <a:endParaRPr sz="1600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600" dirty="0">
                <a:latin typeface="Raleway"/>
                <a:ea typeface="Raleway"/>
                <a:cs typeface="Raleway"/>
                <a:sym typeface="Raleway"/>
              </a:rPr>
              <a:t>Focuses on meaningful words, easy to implement with </a:t>
            </a:r>
            <a:r>
              <a:rPr lang="en-GB" sz="1600" dirty="0" err="1">
                <a:latin typeface="Raleway"/>
                <a:ea typeface="Raleway"/>
                <a:cs typeface="Raleway"/>
                <a:sym typeface="Raleway"/>
              </a:rPr>
              <a:t>spaCy</a:t>
            </a:r>
            <a:r>
              <a:rPr lang="en-GB" sz="1600" dirty="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600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Cont.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23"/>
          <p:cNvGraphicFramePr/>
          <p:nvPr/>
        </p:nvGraphicFramePr>
        <p:xfrm>
          <a:off x="511650" y="1046950"/>
          <a:ext cx="7679850" cy="3710000"/>
        </p:xfrm>
        <a:graphic>
          <a:graphicData uri="http://schemas.openxmlformats.org/drawingml/2006/table">
            <a:tbl>
              <a:tblPr>
                <a:noFill/>
                <a:tableStyleId>{F18BEA5A-AC3B-4FC5-8CAE-F7721D8CCF50}</a:tableStyleId>
              </a:tblPr>
              <a:tblGrid>
                <a:gridCol w="255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 dirty="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Method</a:t>
                      </a:r>
                      <a:endParaRPr sz="1100" b="1" dirty="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Pros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Cons</a:t>
                      </a:r>
                      <a:endParaRPr sz="1100"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Frequency-Based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Simple, fast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Irrelevant words, no context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TF-IDF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Considers corpus context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Statistical, may miss semantics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Topic Modeling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Uncovers themes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Topic number setting, hard to interpret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POS Tagging (Nouns)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Focuses on meaningful words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dirty="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May include less relevant terms, needs interpretation</a:t>
                      </a:r>
                      <a:endParaRPr dirty="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Keyword Extraction Techniques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Frequency-based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Identify the most common words in reviews.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TF-IDF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Highlights words that are significant across the dataset.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Topic </a:t>
            </a:r>
            <a:r>
              <a:rPr lang="en-GB" b="1" dirty="0" err="1">
                <a:latin typeface="Raleway"/>
                <a:ea typeface="Raleway"/>
                <a:cs typeface="Raleway"/>
                <a:sym typeface="Raleway"/>
              </a:rPr>
              <a:t>Modeling</a:t>
            </a: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 (LDA)</a:t>
            </a: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: Groups words into topics for deeper insights.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Applications:</a:t>
            </a:r>
            <a:endParaRPr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Pinpointing user pain points (e.g., "crash", "slow").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Highlighting praised features (e.g., "intuitive", "fast").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Guiding app updates and marketing strategies.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Reference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en-GB" u="sng" dirty="0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Getting Started with Sentiment Analysis using Python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en-GB" u="sng" dirty="0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What is Sentiment Analysis?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Any questions?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Office PowerPoint</Application>
  <PresentationFormat>On-screen Show (16:9)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Raleway</vt:lpstr>
      <vt:lpstr>Arial</vt:lpstr>
      <vt:lpstr>Simple Light</vt:lpstr>
      <vt:lpstr>Sentiment Analysis and Keyword Extraction</vt:lpstr>
      <vt:lpstr>What is Sentiment Analysis?</vt:lpstr>
      <vt:lpstr>What is Keyword Extraction?</vt:lpstr>
      <vt:lpstr>Sentiment Analysis Methods: A Comparative Overview</vt:lpstr>
      <vt:lpstr>Cont.</vt:lpstr>
      <vt:lpstr>Cont.</vt:lpstr>
      <vt:lpstr>Table comparing VADER and TextBlob's approaches</vt:lpstr>
      <vt:lpstr>Sentiment Analysis Techniques</vt:lpstr>
      <vt:lpstr>Keyword Extraction Methods: A Comparative Overview</vt:lpstr>
      <vt:lpstr>Cont.</vt:lpstr>
      <vt:lpstr>Cont.</vt:lpstr>
      <vt:lpstr>Keyword Extraction Techniques</vt:lpstr>
      <vt:lpstr>Reference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Filimon HAILEMARIAM</cp:lastModifiedBy>
  <cp:revision>2</cp:revision>
  <dcterms:modified xsi:type="dcterms:W3CDTF">2025-11-27T08:50:27Z</dcterms:modified>
</cp:coreProperties>
</file>